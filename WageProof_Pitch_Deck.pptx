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AA"/>
                </a:solidFill>
                <a:latin typeface="Calibri"/>
              </a:rPr>
              <a:t>Track: Open Innovation  |  Inspired by Track 1 — Trust Scoring for the Credit-Invisible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WageProof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AA"/>
                </a:solidFill>
                <a:latin typeface="Calibri"/>
              </a:rPr>
              <a:t>Turning informal work into trusted financial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A privacy-first financial readiness passport for India's informal workforce</a:t>
            </a:r>
          </a:p>
        </p:txBody>
      </p:sp>
      <p:pic>
        <p:nvPicPr>
          <p:cNvPr id="8" name="Picture 7" descr="wageproof_journey_17890592665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9601200" cy="2011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5577840"/>
            <a:ext cx="10058400" cy="685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Team Name: [Your Team Name]  ·  Team Members: [Name 1] · [Name 2] · [Name 3]  ·  Event: YEL Build Bank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"No salary slip should not mean no financial opportunity."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  <a:latin typeface="Calibri"/>
              </a:rPr>
              <a:t>Informal work is real — but often financially invisible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303520" cy="4206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  Formal lenders need salary slips, bank statements, and credit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  Informal workers receive income via UPI, cash, platform payouts &amp; supplier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  A reliable worker may appear 'unscorable' or 'high risk' due to fragmented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  Sharing full bank statements exposes unrelated private 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  Alternative credit models can be opaque and hard to 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143000"/>
            <a:ext cx="589788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REAL-LIFE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64208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Sana is a home-based tailor in Delhi. She has worked for over two years, receives UPI payments from repeat customers, and pays fabric suppliers regularly.
When she needs a Rs.20,000 sewing-machine loan, she cannot show a salary slip or conventional credit history - her actual work remains invisible.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520440"/>
            <a:ext cx="2834640" cy="1783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584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Sana's Real Financial 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9319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UPI payments + cash
Supplier bills &amp; repeat customers
Years of consistent work
-&gt; Financially RELIABLE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3520440"/>
            <a:ext cx="2971800" cy="1783080"/>
          </a:xfrm>
          <a:prstGeom prst="rect">
            <a:avLst/>
          </a:prstGeom>
          <a:solidFill>
            <a:srgbClr val="3B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3584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Traditional Lending Requirement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31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Salary slip + credit score
Formal employer proof
Bank statement
-&gt; Financially INVISIBLE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486400"/>
            <a:ext cx="11567160" cy="1051560"/>
          </a:xfrm>
          <a:prstGeom prst="rect">
            <a:avLst/>
          </a:prstGeom>
          <a:solidFill>
            <a:srgbClr val="00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704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How might we help informal workers convert fragmented work evidence into a consent-based, verifiable, privacy-preserving financial credential that lenders can understand and trust?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Solution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  <a:latin typeface="Calibri"/>
              </a:rPr>
              <a:t>WageProof: A portable work-and-income credential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173736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737360" cy="27432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70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1463040"/>
            <a:ext cx="16459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Worker
Gives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426464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170432"/>
            <a:ext cx="173736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2848" y="1170432"/>
            <a:ext cx="1737360" cy="27432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1170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1463040"/>
            <a:ext cx="16459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Connects / Uploads
Work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426464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05655" y="1170432"/>
            <a:ext cx="173736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05655" y="1170432"/>
            <a:ext cx="1737360" cy="27432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5655" y="1170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5" y="1463040"/>
            <a:ext cx="16459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WageProof Verifies
&amp; Analyses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3015" y="1426464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463" y="1170432"/>
            <a:ext cx="173736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98463" y="1170432"/>
            <a:ext cx="1737360" cy="27432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3" y="1170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4183" y="1463040"/>
            <a:ext cx="16459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Generates Explainable
Readiness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3" y="1426464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1271" y="1170432"/>
            <a:ext cx="173736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91271" y="1170432"/>
            <a:ext cx="1737360" cy="27432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1170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1463040"/>
            <a:ext cx="16459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Worker Shares
QR Credential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1426464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170432"/>
            <a:ext cx="173736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1170432"/>
            <a:ext cx="1737360" cy="27432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1170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1463040"/>
            <a:ext cx="16459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Lender Sees
Verified Claims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121408"/>
            <a:ext cx="2377440" cy="41148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2157984"/>
            <a:ext cx="22311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2121408"/>
            <a:ext cx="5056632" cy="41148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0632" y="2157984"/>
            <a:ext cx="49103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WageProof Does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54112" y="2121408"/>
            <a:ext cx="4114800" cy="41148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27264" y="2157984"/>
            <a:ext cx="3968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Value Created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532888"/>
            <a:ext cx="237744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2560320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Consent-first evidence vault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2532888"/>
            <a:ext cx="5056632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70632" y="2560320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User selects only the records they want to share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54112" y="2532888"/>
            <a:ext cx="411480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27264" y="2560320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Privacy &amp; control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2944368"/>
            <a:ext cx="237744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2971799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Work-evidence verification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2944368"/>
            <a:ext cx="5056632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70632" y="2971799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Checks invoices, payout statements &amp; attestations for consistency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54112" y="2944368"/>
            <a:ext cx="411480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27264" y="2971799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Better evidence quality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355848"/>
            <a:ext cx="237744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3383279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Financial readiness profile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3355848"/>
            <a:ext cx="5056632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70632" y="3383279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Measures work continuity, income consistency &amp; payment discipline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54112" y="3355848"/>
            <a:ext cx="411480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27264" y="3383279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Trust beyond a credit score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767328"/>
            <a:ext cx="237744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" y="3794760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Explainable results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97480" y="3767328"/>
            <a:ext cx="5056632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70632" y="3794760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Shows what increased or limited the readiness result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54112" y="3767328"/>
            <a:ext cx="411480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27264" y="3794760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black-box decisions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178808"/>
            <a:ext cx="237744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4206240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QR-based shareable credential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97480" y="4178808"/>
            <a:ext cx="5056632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70632" y="4206240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Time-limited proof for lender, insurer, landlord, or merchant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54112" y="4178808"/>
            <a:ext cx="411480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27264" y="4206240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Portable proof of economic activity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590288"/>
            <a:ext cx="237744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" y="4617720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Revoke &amp; delete controls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97480" y="4590288"/>
            <a:ext cx="5056632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70632" y="4617720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Allows the user to revoke a credential or withdraw consent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54112" y="4590288"/>
            <a:ext cx="411480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27264" y="4617720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User data ownership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001768"/>
            <a:ext cx="237744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" y="5029200"/>
            <a:ext cx="22311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Proof-building guidance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97480" y="5001768"/>
            <a:ext cx="5056632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70632" y="5029200"/>
            <a:ext cx="491032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Tells new workers what verified evidence strengthens their profile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54112" y="5001768"/>
            <a:ext cx="411480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27264" y="5029200"/>
            <a:ext cx="396849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Inclusion instead of rejection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504688"/>
            <a:ext cx="11548872" cy="1078992"/>
          </a:xfrm>
          <a:prstGeom prst="rect">
            <a:avLst/>
          </a:prstGeom>
          <a:solidFill>
            <a:srgbClr val="003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55412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AA"/>
                </a:solidFill>
                <a:latin typeface="Calibri"/>
              </a:rPr>
              <a:t>EXAMPLE OUTPUT  |  Financial Readiness: 71/100  |  Evidence Confidence: Moderate-High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88873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Verified work continuity: 27 months  |  Estimated monthly income band: Rs.14,000-22,000  |  Income-active weeks: 44 of 52  |  Supplier-payment consistency: Good
Recommended action: Manual review for a small flexible working-capital loan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  <a:latin typeface="Calibri"/>
              </a:rPr>
              <a:t>Secure, explainable, and scalable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486400" cy="4160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93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D4AA"/>
                </a:solidFill>
                <a:latin typeface="Calibri"/>
              </a:rPr>
              <a:t>Worker App / Web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             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          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2432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             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626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Consent Svc  |  Evidence Vault  |  Feature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0098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OCR Pipeline  |  Verification  |  Readiness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Explanation API  |  Credential API  |  QR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4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              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159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   PostgreSQL / Supabase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542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              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926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0D4AA"/>
                </a:solidFill>
                <a:latin typeface="Calibri"/>
              </a:rPr>
              <a:t>Lender / Verifier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170432"/>
            <a:ext cx="1417320" cy="416051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1207008"/>
            <a:ext cx="1271016" cy="342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170432"/>
            <a:ext cx="2468880" cy="416051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1207008"/>
            <a:ext cx="2322576" cy="342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170432"/>
            <a:ext cx="1993392" cy="416051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8672" y="1207008"/>
            <a:ext cx="1847088" cy="342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586484"/>
            <a:ext cx="141732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1613916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586484"/>
            <a:ext cx="246888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1613916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Next.js / React + Tailwind CSS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1586484"/>
            <a:ext cx="1993392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1613916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Worker dashboard &amp; lender portal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002536"/>
            <a:ext cx="141732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62472" y="2029967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Backend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2002536"/>
            <a:ext cx="246888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2029967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Python FastAPI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2002536"/>
            <a:ext cx="1993392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8672" y="2029967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Secure REST APIs &amp; orchestration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418587"/>
            <a:ext cx="141732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2446019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Database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2418587"/>
            <a:ext cx="246888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9792" y="2446019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PostgreSQL / Supabase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2418587"/>
            <a:ext cx="1993392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48672" y="2446019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Profiles, consent logs, audit logs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2834639"/>
            <a:ext cx="141732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2862071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File 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2834639"/>
            <a:ext cx="246888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9792" y="2862071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Supabase / Firebase Storage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834639"/>
            <a:ext cx="1993392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48672" y="2862071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Encrypted evidence-document storage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3250691"/>
            <a:ext cx="141732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62472" y="3278123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OCR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3250691"/>
            <a:ext cx="246888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9792" y="3278123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PaddleOCR / Tesseract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3250691"/>
            <a:ext cx="1993392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48672" y="3278123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Extract dates, amounts, invoice IDs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3666744"/>
            <a:ext cx="141732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62472" y="3694176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AI / ML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3666744"/>
            <a:ext cx="246888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79792" y="3694176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Python + Pandas + scikit-learn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5520" y="3666744"/>
            <a:ext cx="1993392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48672" y="3694176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Income-pattern &amp; readiness model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4082796"/>
            <a:ext cx="141732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62472" y="4110228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Doc Checks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4082796"/>
            <a:ext cx="246888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9792" y="4110228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OpenCV + Image hashing + Rule checks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75520" y="4082796"/>
            <a:ext cx="1993392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48672" y="4110228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Detect duplicate / altered evidence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89320" y="4498848"/>
            <a:ext cx="141732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62472" y="4526280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Credential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06640" y="4498848"/>
            <a:ext cx="2468880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79792" y="4526280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Signed JWT + QR code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75520" y="4498848"/>
            <a:ext cx="1993392" cy="416051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48672" y="4526280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Time-limited, verifiable credential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89320" y="4914900"/>
            <a:ext cx="141732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62472" y="4942332"/>
            <a:ext cx="127101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Visualisation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06640" y="4914900"/>
            <a:ext cx="2468880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79792" y="4942332"/>
            <a:ext cx="2322576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Recharts / Chart.js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75520" y="4914900"/>
            <a:ext cx="1993392" cy="416051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48672" y="4942332"/>
            <a:ext cx="1847088" cy="36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Income trend &amp; readiness breakdown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468112"/>
            <a:ext cx="11548872" cy="1143000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55046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AA"/>
                </a:solidFill>
                <a:latin typeface="Calibri"/>
              </a:rPr>
              <a:t>DATA PRIVACY DESIGN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8064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Store only minimum evidence required for the selected purpose
  Share derived claims (income band, work-continuity duration) - not raw transactions
  Every credential is time-limited and revocable  |  Self-declared income clearly separated from verified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  <a:latin typeface="Calibri"/>
              </a:rPr>
              <a:t>Designing trust without creating new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103120" cy="56007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07008"/>
            <a:ext cx="1956815" cy="48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170432"/>
            <a:ext cx="3749039" cy="56007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1207008"/>
            <a:ext cx="3602735" cy="48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70432"/>
            <a:ext cx="5696712" cy="56007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207008"/>
            <a:ext cx="5550408" cy="486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WageProof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30502"/>
            <a:ext cx="2103120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757934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Fragmented income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730502"/>
            <a:ext cx="3749039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1757934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Income arrives through cash, UPI, platforms, and irregular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730502"/>
            <a:ext cx="5696712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757934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Combine multiple optional signals; report ranges &amp; confidence, not false 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90572"/>
            <a:ext cx="2103120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318003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Fake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2290572"/>
            <a:ext cx="3749039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6312" y="2318003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Invoices, payout screenshots, or letters may be altered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290572"/>
            <a:ext cx="5696712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318003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OCR + duplicate detection + metadata checks + consistency rules + verification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50642"/>
            <a:ext cx="2103120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878074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Privacy concerns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2850642"/>
            <a:ext cx="3749039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6312" y="2878074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Raw statements may expose personal spending &amp; customer identities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850642"/>
            <a:ext cx="5696712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2878074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Consent-based data sharing; disclose aggregates, not raw 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10712"/>
            <a:ext cx="2103120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438144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Algorithmic bias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3410712"/>
            <a:ext cx="3749039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6312" y="3438144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 thin-file worker may be unfairly labelled risky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410712"/>
            <a:ext cx="5696712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3438144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Separate 'insufficient evidence' from 'negative evidence'; route uncertain cases to human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970782"/>
            <a:ext cx="2103120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998214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Low digital literacy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3970782"/>
            <a:ext cx="3749039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96312" y="3998214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Users may not understand consent or technical scores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970782"/>
            <a:ext cx="5696712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3998214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Hindi/Hinglish mode, visual summaries, and simple explanations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530852"/>
            <a:ext cx="2103120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558284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lender 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4530852"/>
            <a:ext cx="3749039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96312" y="4558284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 hackathon prototype cannot operate lending services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530852"/>
            <a:ext cx="5696712" cy="560070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4558284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Use synthetic data; present the product as an evidence layer for manual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090922"/>
            <a:ext cx="2103120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5118354"/>
            <a:ext cx="195681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Regulatory boundaries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23160" y="5090922"/>
            <a:ext cx="3749039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96312" y="5118354"/>
            <a:ext cx="3602735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 model should not be treated as a credit bureau or automatic authority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090922"/>
            <a:ext cx="5696712" cy="560070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5118354"/>
            <a:ext cx="5550408" cy="5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Clearly state WageProof is decision support, not a final lending decision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760720"/>
            <a:ext cx="11548872" cy="86868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7972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ETHICAL PRINCIPLE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8990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0F172A"/>
                </a:solidFill>
                <a:latin typeface="Calibri"/>
              </a:rPr>
              <a:t>"A lack of formal evidence is not evidence of financial unreliability."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AA"/>
                </a:solidFill>
                <a:latin typeface="Calibri"/>
              </a:rPr>
              <a:t>From prototype to an inclusive financial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109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49039" cy="4434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3749039" cy="411480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18872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0934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Strengthen the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29968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Hindi, Hinglish &amp; voice-guided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523744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More evidence types: platform payouts, GST invoices, UPI summaries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017520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Stronger tamper &amp; fraud detection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511296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Transparent 'Build My Proof'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005072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Usability testing with workers, lenders &amp; NGOs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19" y="1170432"/>
            <a:ext cx="3749039" cy="4434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19" y="1170432"/>
            <a:ext cx="3749039" cy="4114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118872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160934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Expand Financial 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7" y="2029968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Small-ticket working-capital loans for vendors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7" y="2523744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Flexible repayment for variable-income 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7" y="3017520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Insurance eligibility &amp; affordable premium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7" y="3511296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Rental / EMI eligibility via consented credential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7" y="4005072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Merchant &amp; supplier trust profiles for B2B credit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0999" y="1170432"/>
            <a:ext cx="3749039" cy="4434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0999" y="1170432"/>
            <a:ext cx="3749039" cy="41148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39" y="118872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Calibri"/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39" y="160934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Build an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029968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Partner with gig platforms, worker collectives &amp; NGOs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2523744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Digitally signed attestation flows for repeat clients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3017520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Privacy-preserving verification for institutions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3511296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Fairness dashboards auditing performance across cohorts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7" y="4005072"/>
            <a:ext cx="3547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✓  Reusable portable Financial Readiness Passport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669280"/>
            <a:ext cx="4114800" cy="164592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5705856"/>
            <a:ext cx="396849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5669280"/>
            <a:ext cx="7434072" cy="164592"/>
          </a:xfrm>
          <a:prstGeom prst="rect">
            <a:avLst/>
          </a:prstGeom>
          <a:solidFill>
            <a:srgbClr val="00A8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5705856"/>
            <a:ext cx="728776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It Measures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833872"/>
            <a:ext cx="4114800" cy="164592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5861304"/>
            <a:ext cx="39684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Credential completion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5833872"/>
            <a:ext cx="7434072" cy="164592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5861304"/>
            <a:ext cx="72877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Whether workers can successfully build proof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998464"/>
            <a:ext cx="4114800" cy="164592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6025896"/>
            <a:ext cx="39684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Verified-evidence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998464"/>
            <a:ext cx="7434072" cy="164592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6025896"/>
            <a:ext cx="72877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Share of claims supported by strong evidence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163056"/>
            <a:ext cx="4114800" cy="164592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6190488"/>
            <a:ext cx="39684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Time to create a credential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6163056"/>
            <a:ext cx="7434072" cy="164592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6190488"/>
            <a:ext cx="72877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Ease of onboarding and usability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327648"/>
            <a:ext cx="4114800" cy="164592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" y="6355080"/>
            <a:ext cx="39684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Manual-review acceptance 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34840" y="6327648"/>
            <a:ext cx="7434072" cy="164592"/>
          </a:xfrm>
          <a:prstGeom prst="rect">
            <a:avLst/>
          </a:prstGeom>
          <a:solidFill>
            <a:srgbClr val="1E293B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7992" y="6355080"/>
            <a:ext cx="72877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Whether credentials help lenders assess applicants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6492240"/>
            <a:ext cx="4114800" cy="164592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6519672"/>
            <a:ext cx="39684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Fairness gap across groups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34840" y="6492240"/>
            <a:ext cx="7434072" cy="164592"/>
          </a:xfrm>
          <a:prstGeom prst="rect">
            <a:avLst/>
          </a:prstGeom>
          <a:solidFill>
            <a:srgbClr val="162032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7992" y="6519672"/>
            <a:ext cx="72877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Whether the model treats diverse workers equitably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AA"/>
                </a:solidFill>
                <a:latin typeface="Calibri"/>
              </a:rPr>
              <a:t>WageProof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BD5E1"/>
                </a:solidFill>
                <a:latin typeface="Calibri"/>
              </a:rPr>
              <a:t>Proof of work.  Path to opportunity.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566160"/>
            <a:ext cx="8531352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36210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D4AA"/>
                </a:solidFill>
                <a:latin typeface="Calibri"/>
              </a:rPr>
              <a:t>"A person should not be financially invisible simply because their work is informal."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Informal Work  -&gt;  Verified Proof  -&gt;  Fairer 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03520"/>
            <a:ext cx="7616952" cy="1234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5367528"/>
            <a:ext cx="7434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Team: [Your Team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687568"/>
            <a:ext cx="7434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Members: [Names]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6007608"/>
            <a:ext cx="7434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Contact: [Email / LinkedIn / GitHub]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